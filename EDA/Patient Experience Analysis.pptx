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5B9C5-8D00-2765-9355-DB1472882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FAD14-FFBD-632B-CFFC-911B74ADD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38CD9-AFD4-3C72-F678-335342519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DECA-6B3D-483F-9528-5C794CE64231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49CAD-275B-77AD-1EAB-857556EEC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42D0C-DA41-07C7-0CF3-7E79BFDA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B40C-1E0E-40F4-946C-DAEFC0543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23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B4C7D-D8F2-6C33-36C2-B016EB75F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CEC9A-E876-7759-CA0A-70865CB58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CAA6D-625D-D83D-6D62-C05F60C9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DECA-6B3D-483F-9528-5C794CE64231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4AC0E-02DC-4076-4AE9-FCD26F63E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B4B33-BCFF-8DCA-C495-141CAFDF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B40C-1E0E-40F4-946C-DAEFC0543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34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950E6-28B2-D521-B16A-20A4D810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96D58-E445-FECB-0A69-0EB5844F6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6E067-4922-E94E-FDA6-B969A0A2F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DECA-6B3D-483F-9528-5C794CE64231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7AD94-2EC5-2268-A40C-63491FA7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8E81D-D6F1-6D74-DDF0-000130867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B40C-1E0E-40F4-946C-DAEFC0543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26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357AE-44D7-F4E1-7145-EC26DF8DF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FF197-7D77-A653-A46F-BA54C7F3F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5D63D-EEAD-B7E8-EA09-10C269136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82357-E4C0-415D-EEB7-8CFB75CBC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DECA-6B3D-483F-9528-5C794CE64231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11DA9-9599-4BDA-2804-288752FF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05656-1CDB-6344-7EED-533534A15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B40C-1E0E-40F4-946C-DAEFC0543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02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6AC5-989A-A9F6-7BFF-0856CFAB4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1DF78-E8D6-18E2-3A50-C35632795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596EB-DD29-427E-0A17-1B4E28C23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37CF82-3AF1-9B51-086B-A20FE1351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4011F3-7369-AC6F-BCF5-40F5625E9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A01E7A-DD70-B093-0149-611567337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DECA-6B3D-483F-9528-5C794CE64231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E1B4F2-FEC3-BBB0-7C1F-611659F82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6019B-6C9B-AFC4-6407-5F057978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B40C-1E0E-40F4-946C-DAEFC0543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65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4F6CF-5439-DFF7-7895-DC04306B0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794363-2F6F-0CC7-1D44-54C93C03B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DECA-6B3D-483F-9528-5C794CE64231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C76DB-F8F1-9713-7EF8-FA4A00F48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729D0E-9125-BD68-7BD4-9E16F3595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B40C-1E0E-40F4-946C-DAEFC0543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21204-FDED-C3DA-654B-3A964B16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DECA-6B3D-483F-9528-5C794CE64231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05149-8A2D-18B1-8889-649E47ECE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BF28F-EEC6-C298-4146-5902A5E3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B40C-1E0E-40F4-946C-DAEFC0543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41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F11B4-AD3A-39EB-B78D-16B932C0F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52E0B-1FDC-7763-4FD5-2427D3506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05D2F-294C-F6BC-921B-081963CEB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8A69B-3181-D6A2-156F-79A87D65A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DECA-6B3D-483F-9528-5C794CE64231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ABBA3-0F4E-22C5-A3FF-D83AF6497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817A4-577D-AD10-03CD-D3EB51122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B40C-1E0E-40F4-946C-DAEFC0543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97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A9407-CBC6-454C-D8D3-A6454BDB2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19D483-3205-DFE2-F8BD-DA6B3D4278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B6720-2C4D-9799-15EC-79E140B18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45FFF-65B7-8E50-38C0-1AACFC6BF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DECA-6B3D-483F-9528-5C794CE64231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B284D-7642-D528-473C-46F6316E1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29E8C-E916-378A-390D-42C8250B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B40C-1E0E-40F4-946C-DAEFC0543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25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7808-4A0D-BC92-03A4-E5EB78A76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687C3-5325-C040-0B76-5A36C688D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CB97A-664B-9238-EC3B-86AE0FD08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DECA-6B3D-483F-9528-5C794CE64231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06A1F-F64D-465F-620F-83EE03E15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9959D-D45B-0920-7108-5FEDECF97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B40C-1E0E-40F4-946C-DAEFC0543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69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BDB704-5AAF-2374-25D0-FD1AB8CBF1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3A0A3E-FCFF-3E79-39F0-916C21A38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29C66-7C73-C9C9-BBF7-E77CC769A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DECA-6B3D-483F-9528-5C794CE64231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C194F-227A-903B-868C-C81E7EBE2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7CED2-F2AB-6F3F-C6D1-1636C3E3E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B40C-1E0E-40F4-946C-DAEFC0543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0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5E8131-C979-EA9B-550D-41BC87A5E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DBFF5-A227-C2C5-CCD4-27AB2FE53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0486-BCC1-7B37-9922-FF84DF214E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73DECA-6B3D-483F-9528-5C794CE64231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C5AD2-20BB-FC78-FA2B-C486C0AC8B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42831-D37C-15B9-50A3-5B6F532BA8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AB40C-1E0E-40F4-946C-DAEFC0543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48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1E650-1A7D-4003-6A10-373CD9DAE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Patient Experience Analysis</a:t>
            </a:r>
            <a:br>
              <a:rPr lang="en-US" dirty="0"/>
            </a:br>
            <a:r>
              <a:rPr lang="en-US" sz="1800" dirty="0"/>
              <a:t>(source: HCAHPS survey data)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135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BF1FC-EEBB-0075-D1A9-1DC09F499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overview of key metrics obtained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B9F703-4F5C-8F08-FBE9-3B638FFCF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506489"/>
              </p:ext>
            </p:extLst>
          </p:nvPr>
        </p:nvGraphicFramePr>
        <p:xfrm>
          <a:off x="838200" y="1690688"/>
          <a:ext cx="10515600" cy="4124484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179667278"/>
                    </a:ext>
                  </a:extLst>
                </a:gridCol>
              </a:tblGrid>
              <a:tr h="3787648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Interpreting the overall rankings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Your overall ranking (average across categories) shows: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#1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Unity Medical Center (TN) — </a:t>
                      </a: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97.25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(weighted = unweighted)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#2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Citizens Medical Center (LA) — </a:t>
                      </a: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96.38</a:t>
                      </a:r>
                      <a:endParaRPr lang="en-US" sz="100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#3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Advanced Surgical Hospital (PA) — </a:t>
                      </a: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94.88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(tie)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#3 (tie)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UT Health East Texas Pittsburg Hospital (TX) — </a:t>
                      </a: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94.88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tier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includes Physicians Care Surgical Hospital (PA), </a:t>
                      </a:r>
                      <a:r>
                        <a:rPr lang="en-US" sz="1000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Orthopaedic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Hospital of Wisconsin (WI), Higgins General Hospital (GA), CHI Saint Joseph Berea NF (KY), among others—</a:t>
                      </a: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94+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this suggests:</a:t>
                      </a:r>
                      <a:endParaRPr lang="en-US" sz="100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performers are not only peaking in individual categories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but also </a:t>
                      </a: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sustaining high scores across multiple domains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indicating </a:t>
                      </a: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organizational consistency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patient experience.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ties at 94.88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(TX and PA facilities) underscore </a:t>
                      </a: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tight performance bands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among the leaders.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= unweighted:</a:t>
                      </a:r>
                      <a:endParaRPr lang="en-US" sz="100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the </a:t>
                      </a: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average (by survey counts)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equals the </a:t>
                      </a: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unweighted average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it often means </a:t>
                      </a: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volumes don’t differ enough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change ranks or that </a:t>
                      </a: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scores are uniformly high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such that weighting makes little difference. This strengthens confidence that the ranking </a:t>
                      </a:r>
                      <a:r>
                        <a:rPr lang="en-US" sz="1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isn’t biased by very small sample hospitals</a:t>
                      </a:r>
                      <a:r>
                        <a:rPr lang="en-US" sz="1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—but still check survey counts to be sure.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0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0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395847"/>
                  </a:ext>
                </a:extLst>
              </a:tr>
              <a:tr h="336836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74659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106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E899-42D0-C3C3-655E-6DC9C51C5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worth calling out</a:t>
            </a:r>
            <a:br>
              <a:rPr lang="en-US" b="1" dirty="0">
                <a:latin typeface="Segoe UI" panose="020B0502040204020203" pitchFamily="34" charset="0"/>
              </a:rPr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39A30C-1C67-014C-AA4A-32E01FB459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2544595"/>
              </p:ext>
            </p:extLst>
          </p:nvPr>
        </p:nvGraphicFramePr>
        <p:xfrm>
          <a:off x="838200" y="2238216"/>
          <a:ext cx="10515600" cy="24307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71758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1" i="0" dirty="0">
                          <a:effectLst/>
                          <a:latin typeface="Segoe UI" panose="020B0502040204020203" pitchFamily="34" charset="0"/>
                        </a:rPr>
                        <a:t>Specialty surgical hospitals trend high</a:t>
                      </a:r>
                      <a:endParaRPr lang="en-US" sz="10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Standardized care pathways and focused service lines (e.g., orthopedics/spine) can lead to </a:t>
                      </a:r>
                      <a:r>
                        <a:rPr lang="en-US" sz="1000" b="1" i="0" dirty="0">
                          <a:effectLst/>
                          <a:latin typeface="Segoe UI" panose="020B0502040204020203" pitchFamily="34" charset="0"/>
                        </a:rPr>
                        <a:t>superior communication and discharge metrics</a:t>
                      </a: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, driving higher overall patient experience.</a:t>
                      </a: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In your narrative, acknowledge </a:t>
                      </a:r>
                      <a:r>
                        <a:rPr lang="en-US" sz="1000" b="1" i="0" dirty="0">
                          <a:effectLst/>
                          <a:latin typeface="Segoe UI" panose="020B0502040204020203" pitchFamily="34" charset="0"/>
                        </a:rPr>
                        <a:t>service‑line effects</a:t>
                      </a: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 and consider showing a </a:t>
                      </a:r>
                      <a:r>
                        <a:rPr lang="en-US" sz="1000" b="1" i="0" dirty="0">
                          <a:effectLst/>
                          <a:latin typeface="Segoe UI" panose="020B0502040204020203" pitchFamily="34" charset="0"/>
                        </a:rPr>
                        <a:t>breakout by hospital type</a:t>
                      </a: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 (general acute care vs specialty). </a:t>
                      </a:r>
                      <a:r>
                        <a:rPr lang="en-US" sz="1000" b="0" i="1" dirty="0">
                          <a:effectLst/>
                          <a:latin typeface="Segoe UI" panose="020B0502040204020203" pitchFamily="34" charset="0"/>
                        </a:rPr>
                        <a:t>(HCAHPS methodology applies to inpatient hospital stays in Medicare‑certified hospitals; measure availability may vary by facility.)</a:t>
                      </a: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 u="none" strike="noStrike" dirty="0">
                          <a:solidFill>
                            <a:srgbClr val="464FEB"/>
                          </a:solidFill>
                          <a:effectLst/>
                          <a:latin typeface="Segoe UI" panose="020B0502040204020203" pitchFamily="34" charset="0"/>
                        </a:rPr>
                        <a:t>1</a:t>
                      </a:r>
                      <a:endParaRPr lang="en-US" sz="10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1" i="0" dirty="0">
                          <a:effectLst/>
                          <a:latin typeface="Segoe UI" panose="020B0502040204020203" pitchFamily="34" charset="0"/>
                        </a:rPr>
                        <a:t>Community hospitals with strong scores</a:t>
                      </a:r>
                      <a:endParaRPr lang="en-US" sz="10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Smaller community facilities may benefit from </a:t>
                      </a:r>
                      <a:r>
                        <a:rPr lang="en-US" sz="1000" b="1" i="0" dirty="0">
                          <a:effectLst/>
                          <a:latin typeface="Segoe UI" panose="020B0502040204020203" pitchFamily="34" charset="0"/>
                        </a:rPr>
                        <a:t>closer staff‑patient ratios</a:t>
                      </a: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 and </a:t>
                      </a:r>
                      <a:r>
                        <a:rPr lang="en-US" sz="1000" b="1" i="0" dirty="0">
                          <a:effectLst/>
                          <a:latin typeface="Segoe UI" panose="020B0502040204020203" pitchFamily="34" charset="0"/>
                        </a:rPr>
                        <a:t>consistent teams</a:t>
                      </a: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, improving communication and environment scores.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1" i="0" dirty="0">
                          <a:effectLst/>
                          <a:latin typeface="Segoe UI" panose="020B0502040204020203" pitchFamily="34" charset="0"/>
                        </a:rPr>
                        <a:t>Geographic dispersion</a:t>
                      </a:r>
                      <a:endParaRPr lang="en-US" sz="10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Top hospitals span </a:t>
                      </a:r>
                      <a:r>
                        <a:rPr lang="en-US" sz="1000" b="1" i="0" dirty="0">
                          <a:effectLst/>
                          <a:latin typeface="Segoe UI" panose="020B0502040204020203" pitchFamily="34" charset="0"/>
                        </a:rPr>
                        <a:t>TN, LA, PA, TX, WI, GA, KY, MS, OK, SD, WV, IL, AR</a:t>
                      </a: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—so </a:t>
                      </a:r>
                      <a:r>
                        <a:rPr lang="en-US" sz="1000" b="1" i="0" dirty="0">
                          <a:effectLst/>
                          <a:latin typeface="Segoe UI" panose="020B0502040204020203" pitchFamily="34" charset="0"/>
                        </a:rPr>
                        <a:t>excellence isn’t limited to one region</a:t>
                      </a: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. If desired, you can overlay </a:t>
                      </a:r>
                      <a:r>
                        <a:rPr lang="en-US" sz="1000" b="1" i="0" dirty="0">
                          <a:effectLst/>
                          <a:latin typeface="Segoe UI" panose="020B0502040204020203" pitchFamily="34" charset="0"/>
                        </a:rPr>
                        <a:t>regional averages</a:t>
                      </a: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 to see where leaders cluster. </a:t>
                      </a:r>
                      <a:r>
                        <a:rPr lang="en-US" sz="1000" b="0" i="1" dirty="0">
                          <a:effectLst/>
                          <a:latin typeface="Segoe UI" panose="020B0502040204020203" pitchFamily="34" charset="0"/>
                        </a:rPr>
                        <a:t>(Census regions can be mapped to states; DC falls in South Atlantic if you later add a DC comparison.)</a:t>
                      </a: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382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60490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715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C61A8C1A-8930-246B-1FCF-6B86683E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2C10-2638-5EA6-B212-5D6D4B546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b="1" dirty="0">
                <a:latin typeface="Segoe UI" panose="020B0502040204020203" pitchFamily="34" charset="0"/>
              </a:rPr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A3FBC4-F73B-4CBE-9BE8-87E4095A19B2}"/>
              </a:ext>
            </a:extLst>
          </p:cNvPr>
          <p:cNvSpPr txBox="1"/>
          <p:nvPr/>
        </p:nvSpPr>
        <p:spPr>
          <a:xfrm>
            <a:off x="838200" y="1690688"/>
            <a:ext cx="83058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</a:pPr>
            <a:r>
              <a:rPr lang="en-US" sz="1200" b="0" i="0" dirty="0">
                <a:effectLst/>
                <a:latin typeface="Segoe UI" panose="020B0502040204020203" pitchFamily="34" charset="0"/>
              </a:rPr>
              <a:t>Unity Medical Center (TN) is the most consistent top performer—#1 overall and top‑10 appearances across 7 categories.”</a:t>
            </a:r>
          </a:p>
          <a:p>
            <a:pPr fontAlgn="t">
              <a:lnSpc>
                <a:spcPts val="1500"/>
              </a:lnSpc>
            </a:pPr>
            <a:endParaRPr lang="en-US" sz="1200" b="1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</a:pPr>
            <a:endParaRPr lang="en-US" sz="1200" b="1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</a:pPr>
            <a:r>
              <a:rPr lang="en-US" sz="1200" b="1" i="0" dirty="0">
                <a:effectLst/>
                <a:latin typeface="Segoe UI" panose="020B0502040204020203" pitchFamily="34" charset="0"/>
              </a:rPr>
              <a:t>Supporting bullets:</a:t>
            </a:r>
            <a:r>
              <a:rPr lang="en-US" sz="1200" b="0" i="0" dirty="0">
                <a:effectLst/>
                <a:latin typeface="Segoe UI" panose="020B0502040204020203" pitchFamily="34" charset="0"/>
              </a:rPr>
              <a:t> </a:t>
            </a:r>
          </a:p>
          <a:p>
            <a: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Segoe UI" panose="020B0502040204020203" pitchFamily="34" charset="0"/>
              </a:rPr>
              <a:t>“Citizens Medical Center (LA) and Advanced Surgical Hospital (PA) also exhibit multi‑category excellence.”</a:t>
            </a:r>
          </a:p>
          <a:p>
            <a: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Segoe UI" panose="020B0502040204020203" pitchFamily="34" charset="0"/>
              </a:rPr>
              <a:t>“Weighted vs unweighted rankings are identical, indicating survey volumes did not materially change ordering.”</a:t>
            </a:r>
          </a:p>
          <a:p>
            <a: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Segoe UI" panose="020B0502040204020203" pitchFamily="34" charset="0"/>
              </a:rPr>
              <a:t>“Top performers include multiple specialty surgical centers—service‑line focus may drive stronger patient experience in communication and discharge.”</a:t>
            </a:r>
          </a:p>
          <a:p>
            <a:pPr lvl="1" fontAlgn="t">
              <a:lnSpc>
                <a:spcPts val="1500"/>
              </a:lnSpc>
            </a:pPr>
            <a:endParaRPr lang="en-US" sz="1200" b="0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US" sz="1200" b="0" i="1" dirty="0">
                <a:effectLst/>
                <a:latin typeface="Segoe UI" panose="020B0502040204020203" pitchFamily="34" charset="0"/>
              </a:rPr>
              <a:t>(</a:t>
            </a:r>
            <a:r>
              <a:rPr lang="en-US" sz="1200" i="1" dirty="0">
                <a:latin typeface="Segoe UI" panose="020B0502040204020203" pitchFamily="34" charset="0"/>
              </a:rPr>
              <a:t>M</a:t>
            </a:r>
            <a:r>
              <a:rPr lang="en-US" sz="1200" b="0" i="1" dirty="0">
                <a:effectLst/>
                <a:latin typeface="Segoe UI" panose="020B0502040204020203" pitchFamily="34" charset="0"/>
              </a:rPr>
              <a:t>ethodology note: “Latest HCAHPS reporting period; hospital‑level measures; linear mean scores preferred; retired composites in 2026 may affect available categories.”)</a:t>
            </a:r>
            <a:endParaRPr lang="en-US" sz="120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7986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FBBC0-3B40-67B2-BD13-72413D580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7BB49-0355-D07C-B409-709C184F6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099"/>
            <a:ext cx="10515600" cy="29527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br>
              <a:rPr lang="en-US" b="1" dirty="0">
                <a:latin typeface="Segoe UI" panose="020B0502040204020203" pitchFamily="34" charset="0"/>
              </a:rPr>
            </a:b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26A9319-2CA8-9535-865C-4C86A8714B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0854170"/>
              </p:ext>
            </p:extLst>
          </p:nvPr>
        </p:nvGraphicFramePr>
        <p:xfrm>
          <a:off x="714375" y="781050"/>
          <a:ext cx="10991850" cy="4355905"/>
        </p:xfrm>
        <a:graphic>
          <a:graphicData uri="http://schemas.openxmlformats.org/drawingml/2006/table">
            <a:tbl>
              <a:tblPr/>
              <a:tblGrid>
                <a:gridCol w="10991850">
                  <a:extLst>
                    <a:ext uri="{9D8B030D-6E8A-4147-A177-3AD203B41FA5}">
                      <a16:colId xmlns:a16="http://schemas.microsoft.com/office/drawing/2014/main" val="3367817854"/>
                    </a:ext>
                  </a:extLst>
                </a:gridCol>
              </a:tblGrid>
              <a:tr h="4110697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Standardize best practices from leaders</a:t>
                      </a:r>
                      <a:endParaRPr lang="en-US" sz="12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For general acute care hospitals, borrow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communication workflows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(e.g., nurse/doctor communication scripts, medication counseling steps) from high performers like Unity Medical Center and Citizens Medical Center.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Focus on known weak spots</a:t>
                      </a:r>
                      <a:endParaRPr lang="en-US" sz="12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If Quietness/Cleanliness are lower nationally (typical in HCAHPS), implement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quiet‑hours protocols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environmental services rounding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, and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noise‑monitoring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dashboards in inpatient units. </a:t>
                      </a:r>
                      <a:r>
                        <a:rPr lang="en-US" sz="1200" b="0" i="1" dirty="0">
                          <a:effectLst/>
                          <a:latin typeface="Segoe UI" panose="020B0502040204020203" pitchFamily="34" charset="0"/>
                        </a:rPr>
                        <a:t>(HCAHPS commonly includes environment measures and global ratings; these are often improvement opportunities.)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</a:p>
                    <a:p>
                      <a:pPr marL="457200" lvl="1" indent="0" fontAlgn="t">
                        <a:lnSpc>
                          <a:spcPts val="1500"/>
                        </a:lnSpc>
                        <a:buFont typeface="+mj-lt"/>
                        <a:buNone/>
                      </a:pPr>
                      <a:endParaRPr lang="en-US" sz="12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Monitor survey volumes</a:t>
                      </a:r>
                      <a:endParaRPr lang="en-US" sz="12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Set a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minimum survey count threshold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for leaderboard inclusion; flag facilities with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low response rates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for cautious interpretation. </a:t>
                      </a:r>
                    </a:p>
                    <a:p>
                      <a:pPr marL="457200" lvl="1" indent="0" fontAlgn="t">
                        <a:lnSpc>
                          <a:spcPts val="1500"/>
                        </a:lnSpc>
                        <a:buFont typeface="+mj-lt"/>
                        <a:buNone/>
                      </a:pPr>
                      <a:endParaRPr lang="en-US" sz="12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Stratify by hospital type</a:t>
                      </a:r>
                      <a:endParaRPr lang="en-US" sz="12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Publish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two leaderboards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: general acute care vs specialty hospitals—more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apples‑to‑apples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endParaRPr lang="en-US" sz="12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2329" marR="62329" marT="31164" marB="31164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349626"/>
                  </a:ext>
                </a:extLst>
              </a:tr>
              <a:tr h="213653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2329" marR="62329" marT="31164" marB="31164"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05714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9018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685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Segoe UI</vt:lpstr>
      <vt:lpstr>Times New Roman</vt:lpstr>
      <vt:lpstr>Office Theme</vt:lpstr>
      <vt:lpstr>Patient Experience Analysis (source: HCAHPS survey data) </vt:lpstr>
      <vt:lpstr>Quick overview of key metrics obtained</vt:lpstr>
      <vt:lpstr>Patterns worth calling out </vt:lpstr>
      <vt:lpstr>Conclusion </vt:lpstr>
      <vt:lpstr>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Mishra, Ritu, VBAVACO</dc:creator>
  <cp:lastModifiedBy>Mishra, Ritu, VBAVACO</cp:lastModifiedBy>
  <cp:revision>1</cp:revision>
  <dcterms:created xsi:type="dcterms:W3CDTF">2026-03-23T23:47:53Z</dcterms:created>
  <dcterms:modified xsi:type="dcterms:W3CDTF">2026-03-23T23:59:43Z</dcterms:modified>
</cp:coreProperties>
</file>